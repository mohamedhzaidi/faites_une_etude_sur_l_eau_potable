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8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64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D269-ED56-5EC0-F43B-7C4A2B7E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B2D4E-9385-B419-9227-28F35743B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D7AB3-F485-84B2-AF18-409A49DE9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06408-AA49-B7C7-1BCB-7EBA2EE63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5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542E-30C9-A247-E0C3-789548C6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7D1E6-1C44-8C10-CE4B-CBEDA3E8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81ED9-DF13-E096-A2B5-2DEA2E58E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7A478-48D5-FC40-BB03-95BB9A591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87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BAE2-B18C-6079-D801-42EF350B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5C78B-DEAD-39BB-990C-9C8A8431C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52F98-363D-477E-5262-3D4FC28FF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328FE-B638-67E7-16D2-301080011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23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53F77-4192-C74D-95F5-A610FB82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F28E1-A3F9-5E99-E762-663CCD79F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3EBDF-B082-16BE-23BC-E2AD8FA9B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7328D-6F4D-BDBF-A9E4-DBA71CAA4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1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B583583-090D-E0E8-469E-39AF4D90CE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49580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5C8C">
              <a:alpha val="40000"/>
            </a:srgbClr>
          </a:solidFill>
          <a:ln w="12700">
            <a:solidFill>
              <a:srgbClr val="0D5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1D8A8A">
              <a:alpha val="30000"/>
            </a:srgbClr>
          </a:solidFill>
          <a:ln w="12700">
            <a:solidFill>
              <a:srgbClr val="1D8A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1371600" cy="27432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 DWFA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de Bord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Eau Potable Mondiale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114800" cy="36576"/>
          </a:xfrm>
          <a:prstGeom prst="rect">
            <a:avLst/>
          </a:prstGeom>
          <a:solidFill>
            <a:srgbClr val="8EB8D0"/>
          </a:solidFill>
          <a:ln w="12700">
            <a:solidFill>
              <a:srgbClr val="8EB8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Drinking Water For All — Analyse des indicateurs mondiaux d'accès à l'eau potable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5981700" cy="784860"/>
          </a:xfrm>
          <a:prstGeom prst="rect">
            <a:avLst/>
          </a:prstGeom>
          <a:solidFill>
            <a:srgbClr val="0D5C8C">
              <a:alpha val="70000"/>
            </a:srgbClr>
          </a:solidFill>
          <a:ln w="12700">
            <a:solidFill>
              <a:srgbClr val="4A7A9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5760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: </a:t>
            </a: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Identifier les pays prioritaires pour investir dans l'accès à l'eau potable
</a:t>
            </a:r>
            <a:r>
              <a:rPr lang="en-US" sz="1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Outil : </a:t>
            </a: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Power 
</a:t>
            </a:r>
            <a:r>
              <a:rPr lang="en-US" sz="1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</a:t>
            </a: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 · FAO · Banque Mondiale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52"/>
          </a:solidFill>
          <a:ln w="12700">
            <a:solidFill>
              <a:srgbClr val="0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70074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470074"/>
            <a:ext cx="640080" cy="1325880"/>
          </a:xfrm>
          <a:prstGeom prst="rect">
            <a:avLst/>
          </a:prstGeom>
          <a:solidFill>
            <a:srgbClr val="0A2E52"/>
          </a:solidFill>
          <a:ln w="12700">
            <a:solidFill>
              <a:srgbClr val="0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470074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56151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de la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97299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 DWFA · 3 domaines d'expertise · Objectifs du tableau de bord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24554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3024554"/>
            <a:ext cx="640080" cy="1325880"/>
          </a:xfrm>
          <a:prstGeom prst="rect">
            <a:avLst/>
          </a:prstGeom>
          <a:solidFill>
            <a:srgbClr val="0A2E52"/>
          </a:solidFill>
          <a:ln w="12700">
            <a:solidFill>
              <a:srgbClr val="0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3024554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11599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Prétraitement des données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2747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· Nettoyage · Modélisation Power BI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470074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709160" y="1470074"/>
            <a:ext cx="640080" cy="1325880"/>
          </a:xfrm>
          <a:prstGeom prst="rect">
            <a:avLst/>
          </a:prstGeom>
          <a:solidFill>
            <a:srgbClr val="0A2E52"/>
          </a:solidFill>
          <a:ln w="12700">
            <a:solidFill>
              <a:srgbClr val="0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09160" y="1470074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156151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Blueprint &amp; Mockup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97299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du dashboard · Indicateurs retenus · Wireframe basse fidélité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24554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3024554"/>
            <a:ext cx="640080" cy="1325880"/>
          </a:xfrm>
          <a:prstGeom prst="rect">
            <a:avLst/>
          </a:prstGeom>
          <a:solidFill>
            <a:srgbClr val="0A2E52"/>
          </a:solidFill>
          <a:ln w="12700">
            <a:solidFill>
              <a:srgbClr val="0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09160" y="3024554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11599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Justification de l'outil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52747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Power BI · Comparatif Tableau vs Power BI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— Contexte de la mission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463040" cy="27432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 SOMMES-NOUS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DWFA (Drinking Water For All) est une ONG internationale qui œuvre pour garantir l'accès universel à l'eau potable. </a:t>
            </a:r>
            <a:r>
              <a:rPr lang="fr-FR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Nous avons 3 domaines d’expertise 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2743200" cy="1371600"/>
          </a:xfrm>
          <a:prstGeom prst="rect">
            <a:avLst/>
          </a:prstGeom>
          <a:solidFill>
            <a:srgbClr val="0D5C8C"/>
          </a:solidFill>
          <a:ln w="12700">
            <a:solidFill>
              <a:srgbClr val="1D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2743200" cy="73152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Création de services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d'accès à </a:t>
            </a:r>
            <a:r>
              <a:rPr lang="en-US" sz="1100" dirty="0" err="1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l’eau</a:t>
            </a: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potable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194560"/>
            <a:ext cx="2743200" cy="1371600"/>
          </a:xfrm>
          <a:prstGeom prst="rect">
            <a:avLst/>
          </a:prstGeom>
          <a:solidFill>
            <a:srgbClr val="0D5C8C"/>
          </a:solidFill>
          <a:ln w="12700">
            <a:solidFill>
              <a:srgbClr val="1D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46120" y="2194560"/>
            <a:ext cx="2743200" cy="73152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Modernisation 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</a:t>
            </a:r>
            <a:r>
              <a:rPr lang="en-US" sz="1100" dirty="0" err="1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d’accès</a:t>
            </a: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à </a:t>
            </a:r>
            <a:r>
              <a:rPr lang="en-US" sz="1100" dirty="0" err="1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l’eau</a:t>
            </a: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existants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194560"/>
            <a:ext cx="2743200" cy="1371600"/>
          </a:xfrm>
          <a:prstGeom prst="rect">
            <a:avLst/>
          </a:prstGeom>
          <a:solidFill>
            <a:srgbClr val="0D5C8C"/>
          </a:solidFill>
          <a:ln w="12700">
            <a:solidFill>
              <a:srgbClr val="1D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172200" y="2194560"/>
            <a:ext cx="2743200" cy="73152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 auprès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</a:t>
            </a:r>
            <a:r>
              <a:rPr lang="en-US" sz="1100" dirty="0" err="1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gouvernements</a:t>
            </a: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fr-FR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propos des politiques d’accès à l’eau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1D8A8A">
              <a:alpha val="20000"/>
            </a:srgbClr>
          </a:solidFill>
          <a:ln w="12700">
            <a:solidFill>
              <a:srgbClr val="1D8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292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Objectif du tableau de bord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965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r>
              <a:rPr lang="en-US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Identifier les pays qui rencontrent des difficultés d'accès à l'eau potable 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r>
              <a:rPr lang="en-US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Cibler ceux où concentrer les efforts DWFA selon les 3 domaines d'expertise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52"/>
          </a:solidFill>
          <a:ln w="12700">
            <a:solidFill>
              <a:srgbClr val="0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— Prétraitement des données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2743200" cy="59436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📂  Sources de données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61388"/>
            <a:ext cx="73152" cy="73152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12648" y="17647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Accès à l'eau &amp; pop. (OMS / WHO)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86" y="2519172"/>
            <a:ext cx="73152" cy="73152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12648" y="24048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Stabilité politique (Banque mondiale)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1548"/>
            <a:ext cx="73152" cy="73152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12648" y="30449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Taux de mortalité liée à l'eau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11641"/>
            <a:ext cx="73152" cy="73152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2648" y="36850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par pays / année (2000–2020)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18688" y="1051560"/>
            <a:ext cx="2743200" cy="594360"/>
          </a:xfrm>
          <a:prstGeom prst="rect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310128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Nettoyage &amp; Transformation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74136" y="1961388"/>
            <a:ext cx="73152" cy="73152"/>
          </a:xfrm>
          <a:prstGeom prst="rect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538728" y="17647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Suppression des valeurs nulles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8509" y="2592324"/>
            <a:ext cx="73152" cy="73152"/>
          </a:xfrm>
          <a:prstGeom prst="rect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538728" y="24048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Uniformisation des noms de pays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241548"/>
            <a:ext cx="73152" cy="73152"/>
          </a:xfrm>
          <a:prstGeom prst="rect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538728" y="30449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Création de la dimension Année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817620"/>
            <a:ext cx="73152" cy="73152"/>
          </a:xfrm>
          <a:prstGeom prst="rect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538728" y="36850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Ajout table Continent (mapping pays)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44768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144768" y="1051560"/>
            <a:ext cx="2743200" cy="594360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236208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Modèle Power BI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1888236"/>
            <a:ext cx="73152" cy="73152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64808" y="17647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faits : Accès Eau + Pop + StabPol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592324"/>
            <a:ext cx="73152" cy="73152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464808" y="24048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faits : Taux Mortalité Eau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168396"/>
            <a:ext cx="73152" cy="73152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64808" y="30449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Dimensions : Continent, Dim_Année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3811641"/>
            <a:ext cx="73152" cy="73152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464808" y="36850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Mesures DAX : Score priorité, % accès…</a:t>
            </a:r>
            <a:endParaRPr lang="en-US" sz="11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9D179F4F-03C2-07B1-A9C9-BB81415358F5}"/>
              </a:ext>
            </a:extLst>
          </p:cNvPr>
          <p:cNvSpPr/>
          <p:nvPr/>
        </p:nvSpPr>
        <p:spPr>
          <a:xfrm>
            <a:off x="256032" y="4187952"/>
            <a:ext cx="868680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B0CD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02E4335F-3F74-DDEC-DCF3-C491C5132109}"/>
              </a:ext>
            </a:extLst>
          </p:cNvPr>
          <p:cNvSpPr/>
          <p:nvPr/>
        </p:nvSpPr>
        <p:spPr>
          <a:xfrm>
            <a:off x="393192" y="421538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i="1" dirty="0">
                <a:solidFill>
                  <a:srgbClr val="1A3A5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J'ai choisi de conserver les pays avec données manquantes en utilisant une logique d'imputation plutôt que de les exclure, afin de garder une vision globale cohérente pour la prise de décision.</a:t>
            </a:r>
            <a:endParaRPr lang="en-US" sz="105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Extrait du Blueprint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65760" y="1077233"/>
            <a:ext cx="8503920" cy="274320"/>
          </a:xfrm>
          <a:prstGeom prst="rect">
            <a:avLst/>
          </a:prstGeom>
          <a:solidFill>
            <a:srgbClr val="1D8A8A">
              <a:alpha val="30000"/>
            </a:srgbClr>
          </a:solidFill>
          <a:ln w="12700">
            <a:solidFill>
              <a:srgbClr val="1D8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0040" y="1100093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pages Power BI 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92808" y="1090949"/>
            <a:ext cx="1600200" cy="246888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892808" y="1090949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 — Vue Monde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46804" y="1090949"/>
            <a:ext cx="1600200" cy="246888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46804" y="1090949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 — Vue </a:t>
            </a:r>
            <a:r>
              <a:rPr lang="en-US" sz="95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1090949"/>
            <a:ext cx="1600200" cy="246888"/>
          </a:xfrm>
          <a:prstGeom prst="rect">
            <a:avLst/>
          </a:prstGeom>
          <a:solidFill>
            <a:srgbClr val="4A7A9B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400800" y="1090949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 — Vue Pays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0" y="1090949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DB3D5AE7-D1B9-E027-6D20-BC05249B1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098" y="1731926"/>
            <a:ext cx="5877804" cy="27858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52"/>
          </a:solidFill>
          <a:ln w="12700">
            <a:solidFill>
              <a:srgbClr val="0A2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Mockup</a:t>
            </a:r>
            <a:endParaRPr lang="en-US" sz="2400" dirty="0"/>
          </a:p>
        </p:txBody>
      </p: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61FAC883-45D2-787B-428B-2C214999C181}"/>
              </a:ext>
            </a:extLst>
          </p:cNvPr>
          <p:cNvGrpSpPr/>
          <p:nvPr/>
        </p:nvGrpSpPr>
        <p:grpSpPr>
          <a:xfrm>
            <a:off x="510078" y="1022623"/>
            <a:ext cx="8123844" cy="3899712"/>
            <a:chOff x="943356" y="1053786"/>
            <a:chExt cx="10305288" cy="5302564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E0E62C-5661-8627-DCEB-C9406520465C}"/>
                </a:ext>
              </a:extLst>
            </p:cNvPr>
            <p:cNvSpPr/>
            <p:nvPr/>
          </p:nvSpPr>
          <p:spPr>
            <a:xfrm>
              <a:off x="943356" y="1690688"/>
              <a:ext cx="10305288" cy="4665662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30CBE24-AA16-4196-7BDA-514CB9A2A787}"/>
                </a:ext>
              </a:extLst>
            </p:cNvPr>
            <p:cNvSpPr/>
            <p:nvPr/>
          </p:nvSpPr>
          <p:spPr>
            <a:xfrm>
              <a:off x="4692396" y="1883664"/>
              <a:ext cx="2807208" cy="457200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E9364843-5334-7653-BD56-12F54C6CDC28}"/>
                </a:ext>
              </a:extLst>
            </p:cNvPr>
            <p:cNvSpPr txBox="1"/>
            <p:nvPr/>
          </p:nvSpPr>
          <p:spPr>
            <a:xfrm>
              <a:off x="4692396" y="1854305"/>
              <a:ext cx="2807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Vue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9441786-1024-2B20-3A15-BDEFADBB36DD}"/>
                </a:ext>
              </a:extLst>
            </p:cNvPr>
            <p:cNvSpPr/>
            <p:nvPr/>
          </p:nvSpPr>
          <p:spPr>
            <a:xfrm>
              <a:off x="1225296" y="2505456"/>
              <a:ext cx="8211309" cy="658368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6" name="ZoneTexte 75">
              <a:extLst>
                <a:ext uri="{FF2B5EF4-FFF2-40B4-BE49-F238E27FC236}">
                  <a16:creationId xmlns:a16="http://schemas.microsoft.com/office/drawing/2014/main" id="{DDCD254F-67B2-01A2-5EF3-69146D140968}"/>
                </a:ext>
              </a:extLst>
            </p:cNvPr>
            <p:cNvSpPr txBox="1"/>
            <p:nvPr/>
          </p:nvSpPr>
          <p:spPr>
            <a:xfrm>
              <a:off x="1237679" y="2416506"/>
              <a:ext cx="8198926" cy="774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CHIFFRES CLÉS </a:t>
              </a:r>
            </a:p>
            <a:p>
              <a:pPr algn="ctr"/>
              <a:r>
                <a:rPr lang="fr-F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(Population, Taux de mortalité/population urbaine, Index de stabilité politique, etc…)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934513F-DB91-256E-ECE1-EE94879E96A4}"/>
                </a:ext>
              </a:extLst>
            </p:cNvPr>
            <p:cNvSpPr/>
            <p:nvPr/>
          </p:nvSpPr>
          <p:spPr>
            <a:xfrm>
              <a:off x="1225296" y="3337560"/>
              <a:ext cx="8211309" cy="287121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73B94312-9A67-BF14-298E-17FA1A41FC70}"/>
                </a:ext>
              </a:extLst>
            </p:cNvPr>
            <p:cNvSpPr txBox="1"/>
            <p:nvPr/>
          </p:nvSpPr>
          <p:spPr>
            <a:xfrm>
              <a:off x="1241300" y="3916536"/>
              <a:ext cx="8065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GRAPHIQUES</a:t>
              </a:r>
            </a:p>
            <a:p>
              <a:pPr algn="ctr"/>
              <a:r>
                <a:rPr lang="fr-F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(Carte du monde, graphiques à barres, graphiques en courbe, nuage de points, etc…)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78FBD6C-B649-1CE1-468C-BD7EEA00D299}"/>
                </a:ext>
              </a:extLst>
            </p:cNvPr>
            <p:cNvSpPr/>
            <p:nvPr/>
          </p:nvSpPr>
          <p:spPr>
            <a:xfrm>
              <a:off x="9610344" y="2505456"/>
              <a:ext cx="1536192" cy="2203704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EB18828D-82A0-0D69-B064-FC28C858A9BD}"/>
                </a:ext>
              </a:extLst>
            </p:cNvPr>
            <p:cNvSpPr txBox="1"/>
            <p:nvPr/>
          </p:nvSpPr>
          <p:spPr>
            <a:xfrm>
              <a:off x="9598255" y="2548270"/>
              <a:ext cx="1604775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FILTRES</a:t>
              </a:r>
            </a:p>
            <a:p>
              <a:pPr algn="ctr"/>
              <a:r>
                <a:rPr lang="fr-F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(Année, Région, Pays,  Statut de stabilité politique, etc…)</a:t>
              </a:r>
            </a:p>
          </p:txBody>
        </p: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6970B8A1-850B-97C4-0212-61314F33D613}"/>
                </a:ext>
              </a:extLst>
            </p:cNvPr>
            <p:cNvSpPr txBox="1"/>
            <p:nvPr/>
          </p:nvSpPr>
          <p:spPr>
            <a:xfrm>
              <a:off x="5017771" y="1053786"/>
              <a:ext cx="4288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Nom de la vue (Monde, Région, Pays)</a:t>
              </a:r>
            </a:p>
          </p:txBody>
        </p: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8707BCEE-B9AF-ADBF-28C0-62ED40873155}"/>
                </a:ext>
              </a:extLst>
            </p:cNvPr>
            <p:cNvCxnSpPr>
              <a:endCxn id="73" idx="0"/>
            </p:cNvCxnSpPr>
            <p:nvPr/>
          </p:nvCxnSpPr>
          <p:spPr>
            <a:xfrm flipH="1">
              <a:off x="6096000" y="1361563"/>
              <a:ext cx="332232" cy="52210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— Justification de l'outil : Power BI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06324" y="4305300"/>
            <a:ext cx="8503920" cy="594360"/>
          </a:xfrm>
          <a:prstGeom prst="rect">
            <a:avLst/>
          </a:prstGeom>
          <a:solidFill>
            <a:srgbClr val="1D8A8A">
              <a:alpha val="25000"/>
            </a:srgbClr>
          </a:solidFill>
          <a:ln w="12700">
            <a:solidFill>
              <a:srgbClr val="1D8A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5"/>
          <p:cNvSpPr/>
          <p:nvPr/>
        </p:nvSpPr>
        <p:spPr>
          <a:xfrm>
            <a:off x="443484" y="433273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Power BI Desktop — solution gratuite, intégrée à l'écosystème Microsoft, adaptée aux besoins de l'ONG et permettant une publication sur Power BI Service</a:t>
            </a:r>
            <a:endParaRPr lang="en-US" sz="11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4AEF446-CBBA-0ED8-2B52-B71490596045}"/>
              </a:ext>
            </a:extLst>
          </p:cNvPr>
          <p:cNvSpPr/>
          <p:nvPr/>
        </p:nvSpPr>
        <p:spPr>
          <a:xfrm>
            <a:off x="306324" y="1234440"/>
            <a:ext cx="4206240" cy="86868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1B2CD75-4F50-BD08-9833-AEDD5999F925}"/>
              </a:ext>
            </a:extLst>
          </p:cNvPr>
          <p:cNvSpPr/>
          <p:nvPr/>
        </p:nvSpPr>
        <p:spPr>
          <a:xfrm>
            <a:off x="306324" y="1234440"/>
            <a:ext cx="54864" cy="86868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C03532A-00D1-1B1E-53C5-60EAFA8DA054}"/>
              </a:ext>
            </a:extLst>
          </p:cNvPr>
          <p:cNvSpPr/>
          <p:nvPr/>
        </p:nvSpPr>
        <p:spPr>
          <a:xfrm>
            <a:off x="470916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Modèle de données relationnel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7FEA9B93-90D0-4D8E-9B84-DCF107660EE1}"/>
              </a:ext>
            </a:extLst>
          </p:cNvPr>
          <p:cNvSpPr/>
          <p:nvPr/>
        </p:nvSpPr>
        <p:spPr>
          <a:xfrm>
            <a:off x="470916" y="15727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Gestion native des tables liées avec jointures sur les dimensions Pays et Année.</a:t>
            </a:r>
            <a:endParaRPr lang="en-US" sz="1000" dirty="0">
              <a:latin typeface="Trebuchet MS" panose="020B0603020202020204" pitchFamily="3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46DFBFA-803E-AA49-5EC1-AA0B8B32D48E}"/>
              </a:ext>
            </a:extLst>
          </p:cNvPr>
          <p:cNvSpPr/>
          <p:nvPr/>
        </p:nvSpPr>
        <p:spPr>
          <a:xfrm>
            <a:off x="4741164" y="1234440"/>
            <a:ext cx="4206240" cy="86868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>
              <a:latin typeface="Trebuchet MS" panose="020B0603020202020204" pitchFamily="34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C5BA23A3-C6FB-A013-55F8-F5D9658BA333}"/>
              </a:ext>
            </a:extLst>
          </p:cNvPr>
          <p:cNvSpPr/>
          <p:nvPr/>
        </p:nvSpPr>
        <p:spPr>
          <a:xfrm>
            <a:off x="4741164" y="1234440"/>
            <a:ext cx="54864" cy="86868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fr-FR">
              <a:latin typeface="Trebuchet MS" panose="020B0603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4B65428-CCC4-A649-911F-A7590BE74ECC}"/>
              </a:ext>
            </a:extLst>
          </p:cNvPr>
          <p:cNvSpPr/>
          <p:nvPr/>
        </p:nvSpPr>
        <p:spPr>
          <a:xfrm>
            <a:off x="4905756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Mesures DAX avancées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0A52C414-9F68-F431-986C-2CEAD0A38D59}"/>
              </a:ext>
            </a:extLst>
          </p:cNvPr>
          <p:cNvSpPr/>
          <p:nvPr/>
        </p:nvSpPr>
        <p:spPr>
          <a:xfrm>
            <a:off x="4905756" y="15727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Création de mesures calculées complexes comme le Score de Priorité Eau, combinant plusieurs indicateurs.</a:t>
            </a:r>
            <a:endParaRPr lang="en-US" sz="1000" dirty="0">
              <a:latin typeface="Trebuchet MS" panose="020B0603020202020204" pitchFamily="34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938E12C8-FAAA-AFE8-455A-29D5DC7BE2EA}"/>
              </a:ext>
            </a:extLst>
          </p:cNvPr>
          <p:cNvSpPr/>
          <p:nvPr/>
        </p:nvSpPr>
        <p:spPr>
          <a:xfrm>
            <a:off x="306324" y="2240280"/>
            <a:ext cx="4206240" cy="86868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340FF105-682E-7888-287A-8EBFEBACDCA7}"/>
              </a:ext>
            </a:extLst>
          </p:cNvPr>
          <p:cNvSpPr/>
          <p:nvPr/>
        </p:nvSpPr>
        <p:spPr>
          <a:xfrm>
            <a:off x="306324" y="2240280"/>
            <a:ext cx="54864" cy="86868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37661A6-A897-F34C-34FE-5A42F2D4429D}"/>
              </a:ext>
            </a:extLst>
          </p:cNvPr>
          <p:cNvSpPr/>
          <p:nvPr/>
        </p:nvSpPr>
        <p:spPr>
          <a:xfrm>
            <a:off x="470916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Dashboards interactifs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BD58738-2760-91AB-BCA7-98BCA8EB6D3C}"/>
              </a:ext>
            </a:extLst>
          </p:cNvPr>
          <p:cNvSpPr/>
          <p:nvPr/>
        </p:nvSpPr>
        <p:spPr>
          <a:xfrm>
            <a:off x="470916" y="25786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Navigation fluide entre les vues Monde, Région et Pays grâce aux boutons et visuels croisés.</a:t>
            </a:r>
            <a:endParaRPr lang="en-US" sz="1000" dirty="0">
              <a:latin typeface="Trebuchet MS" panose="020B0603020202020204" pitchFamily="34" charset="0"/>
            </a:endParaRP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4B090345-C2DD-7E5D-2B68-06736492276F}"/>
              </a:ext>
            </a:extLst>
          </p:cNvPr>
          <p:cNvSpPr/>
          <p:nvPr/>
        </p:nvSpPr>
        <p:spPr>
          <a:xfrm>
            <a:off x="4741164" y="2240280"/>
            <a:ext cx="4206240" cy="86868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>
              <a:latin typeface="Trebuchet MS" panose="020B0603020202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7E3EC5C-6B30-DEC2-5A7F-207BA4F6D990}"/>
              </a:ext>
            </a:extLst>
          </p:cNvPr>
          <p:cNvSpPr/>
          <p:nvPr/>
        </p:nvSpPr>
        <p:spPr>
          <a:xfrm>
            <a:off x="4741164" y="2240280"/>
            <a:ext cx="54864" cy="86868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fr-FR">
              <a:latin typeface="Trebuchet MS" panose="020B0603020202020204" pitchFamily="34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FBEA670B-44AF-394D-3B7D-B5D5DB7C2731}"/>
              </a:ext>
            </a:extLst>
          </p:cNvPr>
          <p:cNvSpPr/>
          <p:nvPr/>
        </p:nvSpPr>
        <p:spPr>
          <a:xfrm>
            <a:off x="4905756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Filtres dynamiques synchronisés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0EB0626-B541-CA53-FF70-E4F448BC5C89}"/>
              </a:ext>
            </a:extLst>
          </p:cNvPr>
          <p:cNvSpPr/>
          <p:nvPr/>
        </p:nvSpPr>
        <p:spPr>
          <a:xfrm>
            <a:off x="4905756" y="25786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Slicers synchronisés entre pages : un filtre Pays ou Région s'applique instantanément sur toutes les vues.</a:t>
            </a:r>
            <a:endParaRPr lang="en-US" sz="1000" dirty="0">
              <a:latin typeface="Trebuchet MS" panose="020B0603020202020204" pitchFamily="34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CB96D412-ABA8-9798-EAF3-F21943D4B268}"/>
              </a:ext>
            </a:extLst>
          </p:cNvPr>
          <p:cNvSpPr/>
          <p:nvPr/>
        </p:nvSpPr>
        <p:spPr>
          <a:xfrm>
            <a:off x="306324" y="3246120"/>
            <a:ext cx="4206240" cy="86868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4321313D-76EE-BB19-8B95-8255415266EC}"/>
              </a:ext>
            </a:extLst>
          </p:cNvPr>
          <p:cNvSpPr/>
          <p:nvPr/>
        </p:nvSpPr>
        <p:spPr>
          <a:xfrm>
            <a:off x="306324" y="3246120"/>
            <a:ext cx="54864" cy="86868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91AE5CC9-F5E7-57C7-B45B-06A530C9CEA0}"/>
              </a:ext>
            </a:extLst>
          </p:cNvPr>
          <p:cNvSpPr/>
          <p:nvPr/>
        </p:nvSpPr>
        <p:spPr>
          <a:xfrm>
            <a:off x="470916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Accessibilité &amp; partage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917B42A2-88B6-6F33-ADB8-3920B7428F8C}"/>
              </a:ext>
            </a:extLst>
          </p:cNvPr>
          <p:cNvSpPr/>
          <p:nvPr/>
        </p:nvSpPr>
        <p:spPr>
          <a:xfrm>
            <a:off x="470916" y="35844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Publication sur Power BI Service pour un accès web depuis n'importe quel appareil, sans installation.</a:t>
            </a:r>
            <a:endParaRPr lang="en-US" sz="1000" dirty="0">
              <a:latin typeface="Trebuchet MS" panose="020B0603020202020204" pitchFamily="34" charset="0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6A2E92C7-F937-4F87-2D23-4FB75536153F}"/>
              </a:ext>
            </a:extLst>
          </p:cNvPr>
          <p:cNvSpPr/>
          <p:nvPr/>
        </p:nvSpPr>
        <p:spPr>
          <a:xfrm>
            <a:off x="4741164" y="3246120"/>
            <a:ext cx="4206240" cy="86868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>
              <a:latin typeface="Trebuchet MS" panose="020B0603020202020204" pitchFamily="34" charset="0"/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73D56263-9ACF-19EB-06D3-E0E565737095}"/>
              </a:ext>
            </a:extLst>
          </p:cNvPr>
          <p:cNvSpPr/>
          <p:nvPr/>
        </p:nvSpPr>
        <p:spPr>
          <a:xfrm>
            <a:off x="4741164" y="3246120"/>
            <a:ext cx="54864" cy="86868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fr-FR">
              <a:latin typeface="Trebuchet MS" panose="020B0603020202020204" pitchFamily="34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BD41AB17-654C-D818-2585-1CEBA018C65E}"/>
              </a:ext>
            </a:extLst>
          </p:cNvPr>
          <p:cNvSpPr/>
          <p:nvPr/>
        </p:nvSpPr>
        <p:spPr>
          <a:xfrm>
            <a:off x="4905756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Écosystème Microsoft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372F743C-32A2-FA5D-8406-8145059E1851}"/>
              </a:ext>
            </a:extLst>
          </p:cNvPr>
          <p:cNvSpPr/>
          <p:nvPr/>
        </p:nvSpPr>
        <p:spPr>
          <a:xfrm>
            <a:off x="4905756" y="35844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Intégration directe avec Excel et les fichiers CSV, facilitant l'import et la mise à jour des données.</a:t>
            </a:r>
            <a:endParaRPr lang="en-US" sz="1000" dirty="0">
              <a:latin typeface="Trebuchet MS" panose="020B0603020202020204" pitchFamily="34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62E1E00B-A8A5-CBB7-9CB8-8BA3C962D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292" y="91440"/>
            <a:ext cx="2310384" cy="7561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5C8C">
              <a:alpha val="30000"/>
            </a:srgbClr>
          </a:solidFill>
          <a:ln w="12700">
            <a:solidFill>
              <a:srgbClr val="0D5C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657600" cy="36576"/>
          </a:xfrm>
          <a:prstGeom prst="rect">
            <a:avLst/>
          </a:prstGeom>
          <a:solidFill>
            <a:srgbClr val="8EB8D0"/>
          </a:solidFill>
          <a:ln w="12700">
            <a:solidFill>
              <a:srgbClr val="8EB8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Blueprint documenté — 3 pages, indicateurs justifiés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Mockup— structure validée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Power BI retenu — gratuit, accessible, performant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34747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Données OMS/FAO/Banque mondiale intégrées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418795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: </a:t>
            </a: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DWFA — Mohamed Zaidi, 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3EF54-0DCC-BF53-4DB1-5CC8C015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C078B5-1BC4-7245-2344-2C727620301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5F09B8-1285-65C2-454E-90CAD4275B52}"/>
              </a:ext>
            </a:extLst>
          </p:cNvPr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5C8C">
              <a:alpha val="30000"/>
            </a:srgbClr>
          </a:solidFill>
          <a:ln w="12700">
            <a:solidFill>
              <a:srgbClr val="0D5C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914597-AA04-2329-4590-B00A71620E96}"/>
              </a:ext>
            </a:extLst>
          </p:cNvPr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 err="1">
                <a:solidFill>
                  <a:srgbClr val="2BB5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endParaRPr lang="en-US" sz="52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017CE8C-905C-3582-0D3B-9D1B3520A37F}"/>
              </a:ext>
            </a:extLst>
          </p:cNvPr>
          <p:cNvSpPr/>
          <p:nvPr/>
        </p:nvSpPr>
        <p:spPr>
          <a:xfrm>
            <a:off x="-1207008" y="3413760"/>
            <a:ext cx="4572000" cy="4572000"/>
          </a:xfrm>
          <a:prstGeom prst="ellipse">
            <a:avLst/>
          </a:prstGeom>
          <a:solidFill>
            <a:srgbClr val="0D5C8C">
              <a:alpha val="30000"/>
            </a:srgbClr>
          </a:solidFill>
          <a:ln w="12700">
            <a:solidFill>
              <a:srgbClr val="0D5C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91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B1E46-E1DA-0CE4-AD8E-7566D210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232AFC-3A43-BD9D-A3E4-76E1462E108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181984-E125-0236-B903-E3D974B04F6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33C711-3DDA-ECF3-2E90-0520FFF472E1}"/>
              </a:ext>
            </a:extLst>
          </p:cNvPr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 — Blueprint (1/3)</a:t>
            </a:r>
            <a:endParaRPr lang="en-US" sz="2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D58C58-3564-5A6D-E750-09462550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72" y="1073270"/>
            <a:ext cx="4656056" cy="378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F947-B302-BAD4-8449-9BFE4B4D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805AFC-BD47-4C81-998E-7AB3CF37934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4AF49A-97A8-4FDD-0DD6-16E22F1A2D0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23ED97-BDDC-2C03-812C-F3482F369590}"/>
              </a:ext>
            </a:extLst>
          </p:cNvPr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2 — Blueprint (2/3)</a:t>
            </a:r>
            <a:endParaRPr lang="en-US" sz="2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24267C3-E635-908B-DB24-D8A0A27BF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1001029"/>
            <a:ext cx="3143249" cy="397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3D66-6967-1F3F-68C8-CF53AC6F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D6B31D-F597-B4EE-5F15-A5D35CAD5CD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B5B8"/>
          </a:solidFill>
          <a:ln w="12700">
            <a:solidFill>
              <a:srgbClr val="2BB5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105339-1DB3-ECF7-913C-E3BA8695B4E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59E5B5-E780-D0F4-202D-6E58CDB5EAAE}"/>
              </a:ext>
            </a:extLst>
          </p:cNvPr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3 — Blueprint (3/3)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1FDF00D-833E-0E0E-4F81-DA4D34F64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999" y="1289053"/>
            <a:ext cx="6282002" cy="347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2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662</Words>
  <Application>Microsoft Office PowerPoint</Application>
  <PresentationFormat>Affichage à l'écran (16:9)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Helvetica 75 Bold</vt:lpstr>
      <vt:lpstr>Segoe UI Semilight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DWFA — Tableau de Bord Eau Potable</dc:title>
  <dc:subject>PptxGenJS Presentation</dc:subject>
  <dc:creator>Analyste Data — Mission DWFA</dc:creator>
  <cp:lastModifiedBy>ZAIDI Mohamed Hichem OW/FINANCE</cp:lastModifiedBy>
  <cp:revision>49</cp:revision>
  <dcterms:created xsi:type="dcterms:W3CDTF">2026-04-13T09:52:08Z</dcterms:created>
  <dcterms:modified xsi:type="dcterms:W3CDTF">2026-04-13T10:44:00Z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Orange Restricted</vt:lpwstr>
  </property>
</Properties>
</file>